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sldIdLst>
    <p:sldId id="256" r:id="rId6"/>
    <p:sldId id="257" r:id="rId7"/>
    <p:sldId id="258" r:id="rId8"/>
    <p:sldId id="259" r:id="rId9"/>
    <p:sldId id="260" r:id="rId10"/>
    <p:sldId id="269" r:id="rId11"/>
    <p:sldId id="261" r:id="rId12"/>
    <p:sldId id="262" r:id="rId13"/>
    <p:sldId id="263" r:id="rId14"/>
    <p:sldId id="274" r:id="rId15"/>
    <p:sldId id="264" r:id="rId16"/>
    <p:sldId id="265" r:id="rId17"/>
    <p:sldId id="266" r:id="rId18"/>
    <p:sldId id="267" r:id="rId19"/>
    <p:sldId id="268" r:id="rId20"/>
    <p:sldId id="270" r:id="rId21"/>
    <p:sldId id="275" r:id="rId22"/>
    <p:sldId id="271" r:id="rId23"/>
    <p:sldId id="272" r:id="rId24"/>
    <p:sldId id="27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5863C2-8FB2-49E0-BA2F-C9C53E284055}" v="21" dt="2026-05-03T17:56:51.2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5AC2A-776A-5FEE-580B-30841EBBED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DF1CAD5-10B2-2408-4F2E-AE3B1ACD2E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E75EC62-2E8A-B7B3-AB3E-AD20D0A7CC18}"/>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5" name="Footer Placeholder 4">
            <a:extLst>
              <a:ext uri="{FF2B5EF4-FFF2-40B4-BE49-F238E27FC236}">
                <a16:creationId xmlns:a16="http://schemas.microsoft.com/office/drawing/2014/main" id="{DB1ADDFB-FC39-CC8D-455A-4EC35833C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B09808-E146-6BA7-A331-90D8C4BC9206}"/>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3997110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691AA-553B-067B-2384-209193BC92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93B064-CAE7-2FB9-73FD-CDF49200B1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457579-A411-6ED7-7327-DB352113A3D6}"/>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5" name="Footer Placeholder 4">
            <a:extLst>
              <a:ext uri="{FF2B5EF4-FFF2-40B4-BE49-F238E27FC236}">
                <a16:creationId xmlns:a16="http://schemas.microsoft.com/office/drawing/2014/main" id="{F45B6EBD-703C-3E49-8712-D03EB3DB2B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C360BE-F9D3-2D39-0412-CB77016462A4}"/>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3643654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D80A-C5FE-DC15-6480-46BDEDCEE2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42BA79-7FC6-E847-8B45-EBE54A2258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CAAB61-47CA-2B87-7F0E-B2B2A46B82BC}"/>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5" name="Footer Placeholder 4">
            <a:extLst>
              <a:ext uri="{FF2B5EF4-FFF2-40B4-BE49-F238E27FC236}">
                <a16:creationId xmlns:a16="http://schemas.microsoft.com/office/drawing/2014/main" id="{02558F95-828D-F2BF-B377-6C1C903921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6E7793-3AEE-7E57-052E-112DA61041BA}"/>
              </a:ext>
            </a:extLst>
          </p:cNvPr>
          <p:cNvSpPr>
            <a:spLocks noGrp="1"/>
          </p:cNvSpPr>
          <p:nvPr>
            <p:ph type="sldNum" sz="quarter" idx="12"/>
          </p:nvPr>
        </p:nvSpPr>
        <p:spPr/>
        <p:txBody>
          <a:bodyPr/>
          <a:lstStyle/>
          <a:p>
            <a:fld id="{EA1818D6-1CF1-4D4C-8AA0-ACFC9EE86293}" type="slidenum">
              <a:rPr lang="en-IN" smtClean="0"/>
              <a:t>‹#›</a:t>
            </a:fld>
            <a:endParaRPr lang="en-IN"/>
          </a:p>
        </p:txBody>
      </p:sp>
      <p:pic>
        <p:nvPicPr>
          <p:cNvPr id="9" name="Picture 8">
            <a:extLst>
              <a:ext uri="{FF2B5EF4-FFF2-40B4-BE49-F238E27FC236}">
                <a16:creationId xmlns:a16="http://schemas.microsoft.com/office/drawing/2014/main" id="{F6B41B0A-12C5-82E8-3BE6-86FD8EDFF8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94591" y="0"/>
            <a:ext cx="3797409" cy="1017587"/>
          </a:xfrm>
          <a:prstGeom prst="rect">
            <a:avLst/>
          </a:prstGeom>
        </p:spPr>
      </p:pic>
    </p:spTree>
    <p:extLst>
      <p:ext uri="{BB962C8B-B14F-4D97-AF65-F5344CB8AC3E}">
        <p14:creationId xmlns:p14="http://schemas.microsoft.com/office/powerpoint/2010/main" val="990963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8CDF-4A03-5752-8FA4-102923E27D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3DC3CB-8B10-8E0C-B46E-1D537323B8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5336D7-A57A-D122-CB38-8B964FDB28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E5CD32-AAA9-7FDB-4800-00C10E1AEBD7}"/>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6" name="Footer Placeholder 5">
            <a:extLst>
              <a:ext uri="{FF2B5EF4-FFF2-40B4-BE49-F238E27FC236}">
                <a16:creationId xmlns:a16="http://schemas.microsoft.com/office/drawing/2014/main" id="{19A69F73-DC6F-8A32-8F7C-4A865DB216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9CEA68-1BDE-007D-7DC7-BD58F1C5001E}"/>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3853192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4399-72B2-6DFC-113C-ACFA65615D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C0B64C-B587-6AEA-153B-AE8E16FC2F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2D3AF0-2EEF-2984-5C63-80522EFED7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6381D6-DB1F-CE51-E3DA-BEB10FB75D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3647D3-45F4-8B3E-4D1A-7A08FC0C46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C0FE7B-3109-A25C-E86E-8E8A726DB000}"/>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8" name="Footer Placeholder 7">
            <a:extLst>
              <a:ext uri="{FF2B5EF4-FFF2-40B4-BE49-F238E27FC236}">
                <a16:creationId xmlns:a16="http://schemas.microsoft.com/office/drawing/2014/main" id="{F4B45304-2D92-A367-4EBD-BE6582F9CD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ED523A-A2A4-5CCA-0E5F-8F0E16675968}"/>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1793397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F449E-586E-F644-A489-719CEFD80E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2F6DA3-2624-0517-0A36-9AA075B4373C}"/>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4" name="Footer Placeholder 3">
            <a:extLst>
              <a:ext uri="{FF2B5EF4-FFF2-40B4-BE49-F238E27FC236}">
                <a16:creationId xmlns:a16="http://schemas.microsoft.com/office/drawing/2014/main" id="{4C9706DB-78CA-4495-67D9-AA654F0F2A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6F05DC-39F5-6B15-48BA-FD1C362FB938}"/>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1044134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48F732-C8BA-E0E9-A970-C2C89FC25CD7}"/>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3" name="Footer Placeholder 2">
            <a:extLst>
              <a:ext uri="{FF2B5EF4-FFF2-40B4-BE49-F238E27FC236}">
                <a16:creationId xmlns:a16="http://schemas.microsoft.com/office/drawing/2014/main" id="{E1E57B2F-E00F-8D7B-7EF3-7B688C16F0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5412CB-67FD-C90D-B665-6A61CF72E8DB}"/>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358057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9C4F0-98E5-8F79-761E-E08EDCDA31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0BE744-B1E5-0BB6-E578-07335490E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29E50BB-EA31-1F36-3CAE-4C34B57E44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F70315-165F-E501-40F8-6D36B496CDC1}"/>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6" name="Footer Placeholder 5">
            <a:extLst>
              <a:ext uri="{FF2B5EF4-FFF2-40B4-BE49-F238E27FC236}">
                <a16:creationId xmlns:a16="http://schemas.microsoft.com/office/drawing/2014/main" id="{7F2C151F-FAA5-992C-1216-BDE02F4353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B3387F-2665-DEF4-19CA-92DE77CA7AF1}"/>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3151750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73991-4824-4A90-85CB-BA5A7D32FA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F29771-6E8F-38DE-CF9B-CCAB695B3B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AE5554-B85C-9B5C-D2C3-A9608EBD9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40E471-AA7C-F480-2D82-7C6837D7993F}"/>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6" name="Footer Placeholder 5">
            <a:extLst>
              <a:ext uri="{FF2B5EF4-FFF2-40B4-BE49-F238E27FC236}">
                <a16:creationId xmlns:a16="http://schemas.microsoft.com/office/drawing/2014/main" id="{6C268C0D-79A9-A426-DB37-59CAC2A896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DFDA6D-6046-F4A9-670F-9A51960405E9}"/>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4056820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284A8-F2B2-D0FA-8923-3131E0009D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275EA1-4A83-DD8C-00C3-4378533E2E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2A74E1-5CD8-0470-B7D1-DD8344B22EDF}"/>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5" name="Footer Placeholder 4">
            <a:extLst>
              <a:ext uri="{FF2B5EF4-FFF2-40B4-BE49-F238E27FC236}">
                <a16:creationId xmlns:a16="http://schemas.microsoft.com/office/drawing/2014/main" id="{D419736C-E962-C3A5-19F3-68BC1DF43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9A7C2D-620C-8092-0C5B-4CAC3B11FDF3}"/>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2800424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91D0DC-B87A-4C2B-1FC3-EE07B3744E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5573C2-58FB-55DB-D6A2-45EA7DAA0B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CDCF48-C2D3-254E-FE82-6E54391860AD}"/>
              </a:ext>
            </a:extLst>
          </p:cNvPr>
          <p:cNvSpPr>
            <a:spLocks noGrp="1"/>
          </p:cNvSpPr>
          <p:nvPr>
            <p:ph type="dt" sz="half" idx="10"/>
          </p:nvPr>
        </p:nvSpPr>
        <p:spPr/>
        <p:txBody>
          <a:bodyPr/>
          <a:lstStyle/>
          <a:p>
            <a:fld id="{EAE22D55-65F1-481F-BC25-F7F83F26950B}" type="datetimeFigureOut">
              <a:rPr lang="en-IN" smtClean="0"/>
              <a:t>03-05-2026</a:t>
            </a:fld>
            <a:endParaRPr lang="en-IN"/>
          </a:p>
        </p:txBody>
      </p:sp>
      <p:sp>
        <p:nvSpPr>
          <p:cNvPr id="5" name="Footer Placeholder 4">
            <a:extLst>
              <a:ext uri="{FF2B5EF4-FFF2-40B4-BE49-F238E27FC236}">
                <a16:creationId xmlns:a16="http://schemas.microsoft.com/office/drawing/2014/main" id="{9B818292-E709-3DCF-23B7-F9626E8F5B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04038C-4766-AE95-2B4A-ECB94410AB48}"/>
              </a:ext>
            </a:extLst>
          </p:cNvPr>
          <p:cNvSpPr>
            <a:spLocks noGrp="1"/>
          </p:cNvSpPr>
          <p:nvPr>
            <p:ph type="sldNum" sz="quarter" idx="12"/>
          </p:nvPr>
        </p:nvSpPr>
        <p:spPr/>
        <p:txBody>
          <a:bodyPr/>
          <a:lstStyle/>
          <a:p>
            <a:fld id="{EA1818D6-1CF1-4D4C-8AA0-ACFC9EE86293}" type="slidenum">
              <a:rPr lang="en-IN" smtClean="0"/>
              <a:t>‹#›</a:t>
            </a:fld>
            <a:endParaRPr lang="en-IN"/>
          </a:p>
        </p:txBody>
      </p:sp>
    </p:spTree>
    <p:extLst>
      <p:ext uri="{BB962C8B-B14F-4D97-AF65-F5344CB8AC3E}">
        <p14:creationId xmlns:p14="http://schemas.microsoft.com/office/powerpoint/2010/main" val="3627953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DFF9-7131-078F-8F22-DFE1E76FDD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CAE513-CA88-0D7D-3B45-1C55FB270F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AFBF58-5879-45E9-0B0E-E14149117115}"/>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5" name="Footer Placeholder 4">
            <a:extLst>
              <a:ext uri="{FF2B5EF4-FFF2-40B4-BE49-F238E27FC236}">
                <a16:creationId xmlns:a16="http://schemas.microsoft.com/office/drawing/2014/main" id="{FC5CBDAC-3532-E71D-8049-9230FE9AC1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55A730-A880-02CF-6821-93A733A3EB28}"/>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717652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BEFB-0265-301C-3F8E-BEFF5D86A7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E5BB0B-402C-9C8C-27FE-A207217947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46FC73-9504-BDA7-C13B-26826659DBA5}"/>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5" name="Footer Placeholder 4">
            <a:extLst>
              <a:ext uri="{FF2B5EF4-FFF2-40B4-BE49-F238E27FC236}">
                <a16:creationId xmlns:a16="http://schemas.microsoft.com/office/drawing/2014/main" id="{81965E1C-D029-8B99-EB8A-3C8B2D6F20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613BB5-F2F9-5B00-952D-856EB2E6E431}"/>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1166996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363F-32C6-C494-43A4-A4AE8BAF46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3307968-3966-B242-310F-235523BCA3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CA3C77-7DEE-09D2-D919-16EAA3C22C07}"/>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5" name="Footer Placeholder 4">
            <a:extLst>
              <a:ext uri="{FF2B5EF4-FFF2-40B4-BE49-F238E27FC236}">
                <a16:creationId xmlns:a16="http://schemas.microsoft.com/office/drawing/2014/main" id="{7B89D0D7-52DE-92AC-0524-6E90020B48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72CA8C-CF38-259E-7DB1-76A03011D137}"/>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1497105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77A5-EF00-7708-EDF1-C0119745E6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85FE73-5E49-311E-3DD6-F423F44777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D3E672-3E23-2219-AC44-F39E399935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9CAD7A-BC17-62E9-3E15-1BA9264072DD}"/>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6" name="Footer Placeholder 5">
            <a:extLst>
              <a:ext uri="{FF2B5EF4-FFF2-40B4-BE49-F238E27FC236}">
                <a16:creationId xmlns:a16="http://schemas.microsoft.com/office/drawing/2014/main" id="{5DCFF900-B6CA-D784-2C51-0943688D82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944499-91A8-020F-D8E7-A7E9E2F28A20}"/>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3141218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D9332-87A1-50FF-9091-3A5E228481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2A2507-6EA2-1BB5-662D-D21000C134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EBE4CB-53C4-D011-2B1D-4B5331360F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1B241A-C669-4B0E-88A7-FABBD8F7D7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571D3B-B259-239B-1312-D20A6E64E3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E657EB-3E7F-44E8-2943-E9FE2A2CB65E}"/>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8" name="Footer Placeholder 7">
            <a:extLst>
              <a:ext uri="{FF2B5EF4-FFF2-40B4-BE49-F238E27FC236}">
                <a16:creationId xmlns:a16="http://schemas.microsoft.com/office/drawing/2014/main" id="{04257DDF-C234-0532-1D53-FD76CE1B9F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6824EC-8FB8-2B48-5113-2E7B2796F33D}"/>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2043450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DF926-C5E0-625E-EBDB-C04A3E0F3B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02FBD0-DEEF-6CF3-4C55-8684DD18360E}"/>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4" name="Footer Placeholder 3">
            <a:extLst>
              <a:ext uri="{FF2B5EF4-FFF2-40B4-BE49-F238E27FC236}">
                <a16:creationId xmlns:a16="http://schemas.microsoft.com/office/drawing/2014/main" id="{497B3FD5-8A86-EAF8-E4AF-28E582CEA8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ED1BB9-C636-1E5D-A736-A7C483A5896D}"/>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18428494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21C000-A113-C94D-06EA-CF2023E0A283}"/>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3" name="Footer Placeholder 2">
            <a:extLst>
              <a:ext uri="{FF2B5EF4-FFF2-40B4-BE49-F238E27FC236}">
                <a16:creationId xmlns:a16="http://schemas.microsoft.com/office/drawing/2014/main" id="{E836090C-1A38-FF4F-B81B-32CB7930A8F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6904B9-3AE9-3143-C7D3-309F26D6D65A}"/>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3334903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D4F5D-7853-A774-B539-8A1346D8FA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23428D1-2E91-98FB-88F3-1B1A952CEB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529E62-A0D8-6246-5C38-B3805CA9A3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A2BDB8-16BE-783F-59E5-C86DBF0F08B7}"/>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6" name="Footer Placeholder 5">
            <a:extLst>
              <a:ext uri="{FF2B5EF4-FFF2-40B4-BE49-F238E27FC236}">
                <a16:creationId xmlns:a16="http://schemas.microsoft.com/office/drawing/2014/main" id="{76578566-0C70-ADE1-2B1F-4344A39693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5F7B18-0DE2-87D1-AB78-3663F381FBE0}"/>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2168765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564CE-0F22-AAD7-B99F-85E3672DA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C5B1CD-A9A1-F60E-5F3E-289A23DCC5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B0CEB5C-8166-0AC9-ED47-913B4925B8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473F68-DD09-2761-5D1D-8BC9BD7D6324}"/>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6" name="Footer Placeholder 5">
            <a:extLst>
              <a:ext uri="{FF2B5EF4-FFF2-40B4-BE49-F238E27FC236}">
                <a16:creationId xmlns:a16="http://schemas.microsoft.com/office/drawing/2014/main" id="{27D36354-8D1C-FD1E-BC4D-C567851CD7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404D2C-7A68-03CB-F0D7-2BA5F6C32920}"/>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30050822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9DA41-E35D-D5A5-8D44-D58C356BF9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3039C0-C3BD-C8E8-E7BB-F68CCEE5A2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FC769F-3F7E-7E3B-1433-CF6E349B9E43}"/>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5" name="Footer Placeholder 4">
            <a:extLst>
              <a:ext uri="{FF2B5EF4-FFF2-40B4-BE49-F238E27FC236}">
                <a16:creationId xmlns:a16="http://schemas.microsoft.com/office/drawing/2014/main" id="{50E0F9DC-B9DE-E4B2-18BA-15C50D4DC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7902A8-E147-C06E-AC8C-468342B97632}"/>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2323633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12096A-34CB-2669-2C2A-6AD4038C8B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8EA7B2-8313-E8E8-92D6-4378A76AE8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134C9-FAE7-8B42-1024-046DA9504E30}"/>
              </a:ext>
            </a:extLst>
          </p:cNvPr>
          <p:cNvSpPr>
            <a:spLocks noGrp="1"/>
          </p:cNvSpPr>
          <p:nvPr>
            <p:ph type="dt" sz="half" idx="10"/>
          </p:nvPr>
        </p:nvSpPr>
        <p:spPr/>
        <p:txBody>
          <a:bodyPr/>
          <a:lstStyle/>
          <a:p>
            <a:fld id="{7984B474-5EF1-4CA3-A338-EC9C85A5E26F}" type="datetimeFigureOut">
              <a:rPr lang="en-IN" smtClean="0"/>
              <a:t>03-05-2026</a:t>
            </a:fld>
            <a:endParaRPr lang="en-IN"/>
          </a:p>
        </p:txBody>
      </p:sp>
      <p:sp>
        <p:nvSpPr>
          <p:cNvPr id="5" name="Footer Placeholder 4">
            <a:extLst>
              <a:ext uri="{FF2B5EF4-FFF2-40B4-BE49-F238E27FC236}">
                <a16:creationId xmlns:a16="http://schemas.microsoft.com/office/drawing/2014/main" id="{56F949B0-7816-1B6C-D62F-7B88B7CF98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126932-C8FA-E4CC-E4BA-BF0258408791}"/>
              </a:ext>
            </a:extLst>
          </p:cNvPr>
          <p:cNvSpPr>
            <a:spLocks noGrp="1"/>
          </p:cNvSpPr>
          <p:nvPr>
            <p:ph type="sldNum" sz="quarter" idx="12"/>
          </p:nvPr>
        </p:nvSpPr>
        <p:spPr/>
        <p:txBody>
          <a:bodyPr/>
          <a:lstStyle/>
          <a:p>
            <a:fld id="{2C737D94-F4DE-4990-BECE-47DB8A0111DF}" type="slidenum">
              <a:rPr lang="en-IN" smtClean="0"/>
              <a:t>‹#›</a:t>
            </a:fld>
            <a:endParaRPr lang="en-IN"/>
          </a:p>
        </p:txBody>
      </p:sp>
    </p:spTree>
    <p:extLst>
      <p:ext uri="{BB962C8B-B14F-4D97-AF65-F5344CB8AC3E}">
        <p14:creationId xmlns:p14="http://schemas.microsoft.com/office/powerpoint/2010/main" val="1725672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459FF-03DF-87CC-D228-7115FFB0E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C83B38-58ED-BEC8-F397-3A78ECCEC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D3A21C-A9F6-425A-CC11-5231212F67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E22D55-65F1-481F-BC25-F7F83F26950B}" type="datetimeFigureOut">
              <a:rPr lang="en-IN" smtClean="0"/>
              <a:t>03-05-2026</a:t>
            </a:fld>
            <a:endParaRPr lang="en-IN"/>
          </a:p>
        </p:txBody>
      </p:sp>
      <p:sp>
        <p:nvSpPr>
          <p:cNvPr id="5" name="Footer Placeholder 4">
            <a:extLst>
              <a:ext uri="{FF2B5EF4-FFF2-40B4-BE49-F238E27FC236}">
                <a16:creationId xmlns:a16="http://schemas.microsoft.com/office/drawing/2014/main" id="{6DCE1DFB-303B-8357-E63B-B1D7DC8C4C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3CF0223-D6E8-6F08-D631-5DEFD1F268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1818D6-1CF1-4D4C-8AA0-ACFC9EE86293}" type="slidenum">
              <a:rPr lang="en-IN" smtClean="0"/>
              <a:t>‹#›</a:t>
            </a:fld>
            <a:endParaRPr lang="en-IN"/>
          </a:p>
        </p:txBody>
      </p:sp>
    </p:spTree>
    <p:extLst>
      <p:ext uri="{BB962C8B-B14F-4D97-AF65-F5344CB8AC3E}">
        <p14:creationId xmlns:p14="http://schemas.microsoft.com/office/powerpoint/2010/main" val="3776201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8DCBCA-8438-9711-B2F7-77766E803B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19CF7C-C9EC-2EEF-6164-D2B8D4FF81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5A5A88-501C-D9ED-5B91-6C2A2DFA7D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84B474-5EF1-4CA3-A338-EC9C85A5E26F}" type="datetimeFigureOut">
              <a:rPr lang="en-IN" smtClean="0"/>
              <a:t>03-05-2026</a:t>
            </a:fld>
            <a:endParaRPr lang="en-IN"/>
          </a:p>
        </p:txBody>
      </p:sp>
      <p:sp>
        <p:nvSpPr>
          <p:cNvPr id="5" name="Footer Placeholder 4">
            <a:extLst>
              <a:ext uri="{FF2B5EF4-FFF2-40B4-BE49-F238E27FC236}">
                <a16:creationId xmlns:a16="http://schemas.microsoft.com/office/drawing/2014/main" id="{92D127E1-2C6E-3042-CE57-E538784C60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3EAC838-5E81-F901-2DD5-DBB3A52161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737D94-F4DE-4990-BECE-47DB8A0111DF}" type="slidenum">
              <a:rPr lang="en-IN" smtClean="0"/>
              <a:t>‹#›</a:t>
            </a:fld>
            <a:endParaRPr lang="en-IN"/>
          </a:p>
        </p:txBody>
      </p:sp>
    </p:spTree>
    <p:extLst>
      <p:ext uri="{BB962C8B-B14F-4D97-AF65-F5344CB8AC3E}">
        <p14:creationId xmlns:p14="http://schemas.microsoft.com/office/powerpoint/2010/main" val="4234597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796B9-4376-744E-D686-AD87E33CF96A}"/>
              </a:ext>
            </a:extLst>
          </p:cNvPr>
          <p:cNvSpPr>
            <a:spLocks noGrp="1"/>
          </p:cNvSpPr>
          <p:nvPr>
            <p:ph type="ctrTitle"/>
          </p:nvPr>
        </p:nvSpPr>
        <p:spPr>
          <a:xfrm>
            <a:off x="1524000" y="1122362"/>
            <a:ext cx="9144000" cy="2667317"/>
          </a:xfrm>
        </p:spPr>
        <p:txBody>
          <a:bodyPr>
            <a:normAutofit fontScale="90000"/>
          </a:bodyPr>
          <a:lstStyle/>
          <a:p>
            <a:br>
              <a:rPr lang="en-US" dirty="0"/>
            </a:br>
            <a:br>
              <a:rPr lang="en-US" dirty="0"/>
            </a:br>
            <a:br>
              <a:rPr lang="en-US" dirty="0"/>
            </a:br>
            <a:br>
              <a:rPr lang="en-US" dirty="0"/>
            </a:br>
            <a:br>
              <a:rPr lang="en-US" dirty="0"/>
            </a:br>
            <a:r>
              <a:rPr lang="en-US" dirty="0"/>
              <a:t>FOOD DELIVERY BOT USING </a:t>
            </a:r>
            <a:br>
              <a:rPr lang="en-US" dirty="0"/>
            </a:br>
            <a:r>
              <a:rPr lang="en-US" dirty="0"/>
              <a:t>D* Algorithm</a:t>
            </a:r>
            <a:endParaRPr lang="en-IN" dirty="0"/>
          </a:p>
        </p:txBody>
      </p:sp>
      <p:sp>
        <p:nvSpPr>
          <p:cNvPr id="3" name="Subtitle 2">
            <a:extLst>
              <a:ext uri="{FF2B5EF4-FFF2-40B4-BE49-F238E27FC236}">
                <a16:creationId xmlns:a16="http://schemas.microsoft.com/office/drawing/2014/main" id="{7A9475CD-0275-B126-B661-654EE2B8155F}"/>
              </a:ext>
            </a:extLst>
          </p:cNvPr>
          <p:cNvSpPr>
            <a:spLocks noGrp="1"/>
          </p:cNvSpPr>
          <p:nvPr>
            <p:ph type="subTitle" idx="1"/>
          </p:nvPr>
        </p:nvSpPr>
        <p:spPr/>
        <p:txBody>
          <a:bodyPr>
            <a:normAutofit lnSpcReduction="10000"/>
          </a:bodyPr>
          <a:lstStyle/>
          <a:p>
            <a:endParaRPr lang="en-US" dirty="0"/>
          </a:p>
          <a:p>
            <a:pPr algn="l"/>
            <a:r>
              <a:rPr lang="en-US" dirty="0"/>
              <a:t>Name : </a:t>
            </a:r>
            <a:r>
              <a:rPr lang="en-US" dirty="0" err="1"/>
              <a:t>Hariharan.R</a:t>
            </a:r>
            <a:r>
              <a:rPr lang="en-US" dirty="0"/>
              <a:t> &amp; </a:t>
            </a:r>
            <a:r>
              <a:rPr lang="en-US" dirty="0" err="1"/>
              <a:t>Harjith.R.S</a:t>
            </a:r>
            <a:endParaRPr lang="en-US" dirty="0"/>
          </a:p>
          <a:p>
            <a:pPr algn="l"/>
            <a:r>
              <a:rPr lang="en-US" dirty="0"/>
              <a:t>Reg No.:128179012 &amp; 128179017</a:t>
            </a:r>
          </a:p>
          <a:p>
            <a:pPr algn="l"/>
            <a:r>
              <a:rPr lang="en-US" dirty="0"/>
              <a:t>Course : Introduction to AI(EIE115R01)</a:t>
            </a:r>
            <a:endParaRPr lang="en-IN" dirty="0"/>
          </a:p>
        </p:txBody>
      </p:sp>
      <p:pic>
        <p:nvPicPr>
          <p:cNvPr id="5" name="Picture 4">
            <a:extLst>
              <a:ext uri="{FF2B5EF4-FFF2-40B4-BE49-F238E27FC236}">
                <a16:creationId xmlns:a16="http://schemas.microsoft.com/office/drawing/2014/main" id="{266B486B-994A-2431-380E-63F1BFA175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2199831"/>
          </a:xfrm>
          <a:prstGeom prst="rect">
            <a:avLst/>
          </a:prstGeom>
        </p:spPr>
      </p:pic>
    </p:spTree>
    <p:extLst>
      <p:ext uri="{BB962C8B-B14F-4D97-AF65-F5344CB8AC3E}">
        <p14:creationId xmlns:p14="http://schemas.microsoft.com/office/powerpoint/2010/main" val="3588888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6DB7E3-9093-9FBC-870B-65441AB78EE4}"/>
              </a:ext>
            </a:extLst>
          </p:cNvPr>
          <p:cNvSpPr txBox="1"/>
          <p:nvPr/>
        </p:nvSpPr>
        <p:spPr>
          <a:xfrm>
            <a:off x="681567" y="697653"/>
            <a:ext cx="10828866" cy="5509200"/>
          </a:xfrm>
          <a:prstGeom prst="rect">
            <a:avLst/>
          </a:prstGeom>
          <a:noFill/>
        </p:spPr>
        <p:txBody>
          <a:bodyPr wrap="square" rtlCol="0">
            <a:spAutoFit/>
          </a:bodyPr>
          <a:lstStyle/>
          <a:p>
            <a:pPr algn="ctr"/>
            <a:r>
              <a:rPr lang="en-IN" b="1" dirty="0"/>
              <a:t> </a:t>
            </a:r>
            <a:r>
              <a:rPr lang="en-IN" sz="2400" b="1" dirty="0"/>
              <a:t>INTRODUCTION</a:t>
            </a:r>
          </a:p>
          <a:p>
            <a:pPr algn="ctr"/>
            <a:endParaRPr lang="en-IN" sz="2000" b="1" dirty="0"/>
          </a:p>
          <a:p>
            <a:pPr algn="ctr"/>
            <a:endParaRPr lang="en-IN" sz="2000" b="1" dirty="0"/>
          </a:p>
          <a:p>
            <a:pPr algn="just"/>
            <a:r>
              <a:rPr lang="en-IN" dirty="0"/>
              <a:t>With the increasing demands for automation in service industries, robotic systems are being widely used to improve efficiency and reduce human intervention. One such application is automated food delivery in environments such as restaurants, hospitals and campuses. Usual delivery methods rely heavily on human labour, which reduces efficiency, increases delays, increases operational costs, and puts human contact with food products at risk of spreading contagious diseases. </a:t>
            </a:r>
          </a:p>
          <a:p>
            <a:pPr algn="just"/>
            <a:endParaRPr lang="en-IN" dirty="0"/>
          </a:p>
          <a:p>
            <a:pPr algn="just"/>
            <a:r>
              <a:rPr lang="en-IN" dirty="0"/>
              <a:t>One of the main challenges in mobile robotics is path planning in dynamic environments. To resolve this challenge, our system uses the D* Lite algorithm, which enables real-time replanning of the path when obstacles are detected. Another important sphere in food delivery is safe delivery. This project integrates QR code-based verification using OpenCV, ensuring that only the intended customer can access the delivered item. The robot combines multiple subsystems, including navigation, obstacle detection, customer verification and communication, to deliver a complete autonomous solution.</a:t>
            </a:r>
          </a:p>
          <a:p>
            <a:r>
              <a:rPr lang="en-IN" dirty="0"/>
              <a:t> </a:t>
            </a:r>
          </a:p>
          <a:p>
            <a:r>
              <a:rPr lang="en-IN" dirty="0"/>
              <a:t> </a:t>
            </a:r>
          </a:p>
          <a:p>
            <a:r>
              <a:rPr lang="en-IN" dirty="0"/>
              <a:t> </a:t>
            </a:r>
          </a:p>
          <a:p>
            <a:endParaRPr lang="en-IN" dirty="0"/>
          </a:p>
        </p:txBody>
      </p:sp>
      <p:pic>
        <p:nvPicPr>
          <p:cNvPr id="3" name="Picture 2">
            <a:extLst>
              <a:ext uri="{FF2B5EF4-FFF2-40B4-BE49-F238E27FC236}">
                <a16:creationId xmlns:a16="http://schemas.microsoft.com/office/drawing/2014/main" id="{DDAAE481-DC7C-28D9-BF3A-418FE4474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3643326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5216E4-9077-8ABB-E7C6-2AA624DA5516}"/>
              </a:ext>
            </a:extLst>
          </p:cNvPr>
          <p:cNvSpPr txBox="1"/>
          <p:nvPr/>
        </p:nvSpPr>
        <p:spPr>
          <a:xfrm>
            <a:off x="1043940" y="792480"/>
            <a:ext cx="10104120" cy="4062651"/>
          </a:xfrm>
          <a:prstGeom prst="rect">
            <a:avLst/>
          </a:prstGeom>
          <a:noFill/>
        </p:spPr>
        <p:txBody>
          <a:bodyPr wrap="square" rtlCol="0">
            <a:spAutoFit/>
          </a:bodyPr>
          <a:lstStyle/>
          <a:p>
            <a:pPr algn="ctr"/>
            <a:r>
              <a:rPr lang="en-IN" sz="2400" b="1" dirty="0"/>
              <a:t>Problem Statement</a:t>
            </a:r>
          </a:p>
          <a:p>
            <a:pPr algn="ctr"/>
            <a:endParaRPr lang="en-IN" sz="2400" dirty="0"/>
          </a:p>
          <a:p>
            <a:r>
              <a:rPr lang="en-IN" dirty="0"/>
              <a:t>Delivering product without human intervention efficiently has become a big challenge in places where human contact with the product could lead to contamination and using human resources for such minimal tasks is not efficient in a known environment. To resolve all these needs an automated system can ensure reliable, efficient and error-free product delivery.</a:t>
            </a:r>
          </a:p>
          <a:p>
            <a:r>
              <a:rPr lang="en-IN" dirty="0"/>
              <a:t> </a:t>
            </a:r>
          </a:p>
          <a:p>
            <a:pPr algn="ctr"/>
            <a:r>
              <a:rPr lang="en-IN" sz="2400" b="1" dirty="0"/>
              <a:t>Objective of the Project</a:t>
            </a:r>
          </a:p>
          <a:p>
            <a:pPr algn="ctr"/>
            <a:endParaRPr lang="en-IN" sz="2400" dirty="0"/>
          </a:p>
          <a:p>
            <a:r>
              <a:rPr lang="en-IN" dirty="0"/>
              <a:t>The main objective of the project is to build an automated robot system for food delivery in a known environment. The robot posses the ability to reach the desired destination efficiently by replanning its path when interfered by any dynamic obstacle using D* Lite algorithm. The robot must also authenticate its user using OpenCV pipelines.</a:t>
            </a:r>
          </a:p>
        </p:txBody>
      </p:sp>
      <p:pic>
        <p:nvPicPr>
          <p:cNvPr id="3" name="Picture 2">
            <a:extLst>
              <a:ext uri="{FF2B5EF4-FFF2-40B4-BE49-F238E27FC236}">
                <a16:creationId xmlns:a16="http://schemas.microsoft.com/office/drawing/2014/main" id="{D9F13467-4C9D-BBBA-33E7-EBB70FBD4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3667636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CD74C5-383C-2D5F-5B33-DEC0C4955D5B}"/>
              </a:ext>
            </a:extLst>
          </p:cNvPr>
          <p:cNvSpPr txBox="1"/>
          <p:nvPr/>
        </p:nvSpPr>
        <p:spPr>
          <a:xfrm>
            <a:off x="716280" y="838200"/>
            <a:ext cx="10835640" cy="2769989"/>
          </a:xfrm>
          <a:prstGeom prst="rect">
            <a:avLst/>
          </a:prstGeom>
          <a:noFill/>
        </p:spPr>
        <p:txBody>
          <a:bodyPr wrap="square" rtlCol="0">
            <a:spAutoFit/>
          </a:bodyPr>
          <a:lstStyle/>
          <a:p>
            <a:pPr algn="ctr"/>
            <a:r>
              <a:rPr lang="en-US" sz="2400" b="1" dirty="0"/>
              <a:t>D* LITE Algorithm</a:t>
            </a:r>
          </a:p>
          <a:p>
            <a:pPr algn="ctr"/>
            <a:endParaRPr lang="en-US" sz="2400" b="1" dirty="0"/>
          </a:p>
          <a:p>
            <a:r>
              <a:rPr lang="en-IN" dirty="0"/>
              <a:t>The D* Lite algorithm is used for efficient pathfinding in dynamic environments. It allows the robot to recalculate its path with respect to the goal when obstacles are detected, making it highly suitable for real-time navigation. The main advantage of D* Lite algorithm over A* algorithm is that D* Lite algorithm always recalculates its path from the current position to the goal position unlike A* algorithm which always recalculates the path from the start node which increases computation load un-necessarily.  This makes D* algorithm highly efficient for dynamic obstacles.</a:t>
            </a:r>
          </a:p>
          <a:p>
            <a:endParaRPr lang="en-IN" dirty="0"/>
          </a:p>
        </p:txBody>
      </p:sp>
      <p:pic>
        <p:nvPicPr>
          <p:cNvPr id="3" name="Picture 2">
            <a:extLst>
              <a:ext uri="{FF2B5EF4-FFF2-40B4-BE49-F238E27FC236}">
                <a16:creationId xmlns:a16="http://schemas.microsoft.com/office/drawing/2014/main" id="{93AE534C-6E8D-7A05-6DE3-F46C23FE5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2064170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4A36CF-C252-0B26-24B6-92793F7C084C}"/>
              </a:ext>
            </a:extLst>
          </p:cNvPr>
          <p:cNvSpPr txBox="1"/>
          <p:nvPr/>
        </p:nvSpPr>
        <p:spPr>
          <a:xfrm>
            <a:off x="670560" y="762000"/>
            <a:ext cx="10820400" cy="4555093"/>
          </a:xfrm>
          <a:prstGeom prst="rect">
            <a:avLst/>
          </a:prstGeom>
          <a:noFill/>
        </p:spPr>
        <p:txBody>
          <a:bodyPr wrap="square" rtlCol="0">
            <a:spAutoFit/>
          </a:bodyPr>
          <a:lstStyle/>
          <a:p>
            <a:pPr algn="ctr"/>
            <a:r>
              <a:rPr lang="en-US" sz="2400" b="1" dirty="0"/>
              <a:t>D* LITE Algorithm Mechanism</a:t>
            </a:r>
          </a:p>
          <a:p>
            <a:r>
              <a:rPr lang="en-US" sz="2400" dirty="0"/>
              <a:t>This algorithm maintains two values for each node.</a:t>
            </a:r>
          </a:p>
          <a:p>
            <a:r>
              <a:rPr lang="en-US" sz="2400" dirty="0"/>
              <a:t>[s-current node ; s’-Next node]</a:t>
            </a:r>
          </a:p>
          <a:p>
            <a:r>
              <a:rPr lang="en-US" sz="2400" b="1" dirty="0"/>
              <a:t>g(s) </a:t>
            </a:r>
            <a:r>
              <a:rPr lang="en-US" sz="2400" dirty="0"/>
              <a:t>: Heuristic value</a:t>
            </a:r>
          </a:p>
          <a:p>
            <a:r>
              <a:rPr lang="en-US" sz="2400" b="1" dirty="0"/>
              <a:t>c(</a:t>
            </a:r>
            <a:r>
              <a:rPr lang="en-US" sz="2400" b="1" dirty="0" err="1"/>
              <a:t>s,s</a:t>
            </a:r>
            <a:r>
              <a:rPr lang="en-US" sz="2400" b="1" dirty="0"/>
              <a:t>’) </a:t>
            </a:r>
            <a:r>
              <a:rPr lang="en-US" sz="2400" dirty="0"/>
              <a:t>: This value states the transition value to move from one node to the next node.</a:t>
            </a:r>
          </a:p>
          <a:p>
            <a:r>
              <a:rPr lang="en-US" sz="2400" b="1" dirty="0" err="1"/>
              <a:t>rhs</a:t>
            </a:r>
            <a:r>
              <a:rPr lang="en-US" sz="2400" b="1" dirty="0"/>
              <a:t>(s) </a:t>
            </a:r>
            <a:r>
              <a:rPr lang="en-US" sz="2400" dirty="0"/>
              <a:t>: (Right-hand step value) It notes the g-value of the neighbor and determines which node to move to maintain a minimal step value.</a:t>
            </a:r>
          </a:p>
          <a:p>
            <a:endParaRPr lang="en-US" sz="2400" dirty="0"/>
          </a:p>
          <a:p>
            <a:r>
              <a:rPr lang="en-US" sz="2400" b="1" dirty="0"/>
              <a:t>FORMULA :-</a:t>
            </a:r>
          </a:p>
          <a:p>
            <a:pPr algn="ctr"/>
            <a:r>
              <a:rPr lang="en-US" sz="3200" b="1" dirty="0" err="1"/>
              <a:t>rhs</a:t>
            </a:r>
            <a:r>
              <a:rPr lang="en-US" sz="3200" b="1" dirty="0"/>
              <a:t>(</a:t>
            </a:r>
            <a:r>
              <a:rPr lang="en-US" sz="3200" b="1" dirty="0" err="1"/>
              <a:t>s,s</a:t>
            </a:r>
            <a:r>
              <a:rPr lang="en-US" sz="3200" b="1" dirty="0"/>
              <a:t>’) = g(s) + min [c(</a:t>
            </a:r>
            <a:r>
              <a:rPr lang="en-US" sz="3200" b="1" dirty="0" err="1"/>
              <a:t>s,s</a:t>
            </a:r>
            <a:r>
              <a:rPr lang="en-US" sz="3200" b="1" dirty="0"/>
              <a:t>’)]</a:t>
            </a:r>
          </a:p>
          <a:p>
            <a:endParaRPr lang="en-IN" dirty="0"/>
          </a:p>
        </p:txBody>
      </p:sp>
      <p:pic>
        <p:nvPicPr>
          <p:cNvPr id="3" name="Picture 2">
            <a:extLst>
              <a:ext uri="{FF2B5EF4-FFF2-40B4-BE49-F238E27FC236}">
                <a16:creationId xmlns:a16="http://schemas.microsoft.com/office/drawing/2014/main" id="{84BECC13-CB32-A932-2085-F57224447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326940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87581E-F2F4-5FE7-0CB0-975FF8BE41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52068" y="517777"/>
            <a:ext cx="4487863" cy="5822446"/>
          </a:xfrm>
          <a:prstGeom prst="rect">
            <a:avLst/>
          </a:prstGeom>
        </p:spPr>
      </p:pic>
      <p:pic>
        <p:nvPicPr>
          <p:cNvPr id="3" name="Picture 2">
            <a:extLst>
              <a:ext uri="{FF2B5EF4-FFF2-40B4-BE49-F238E27FC236}">
                <a16:creationId xmlns:a16="http://schemas.microsoft.com/office/drawing/2014/main" id="{2207989E-D121-64E6-0A46-2954242D7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2800" y="1"/>
            <a:ext cx="3759200" cy="1007348"/>
          </a:xfrm>
          <a:prstGeom prst="rect">
            <a:avLst/>
          </a:prstGeom>
        </p:spPr>
      </p:pic>
    </p:spTree>
    <p:extLst>
      <p:ext uri="{BB962C8B-B14F-4D97-AF65-F5344CB8AC3E}">
        <p14:creationId xmlns:p14="http://schemas.microsoft.com/office/powerpoint/2010/main" val="3258595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0EC288-DF10-7F72-143A-2F45B1DFFDD5}"/>
              </a:ext>
            </a:extLst>
          </p:cNvPr>
          <p:cNvSpPr txBox="1"/>
          <p:nvPr/>
        </p:nvSpPr>
        <p:spPr>
          <a:xfrm>
            <a:off x="868680" y="960120"/>
            <a:ext cx="10469880" cy="4278094"/>
          </a:xfrm>
          <a:prstGeom prst="rect">
            <a:avLst/>
          </a:prstGeom>
          <a:noFill/>
        </p:spPr>
        <p:txBody>
          <a:bodyPr wrap="square" rtlCol="0">
            <a:spAutoFit/>
          </a:bodyPr>
          <a:lstStyle/>
          <a:p>
            <a:pPr algn="ctr"/>
            <a:r>
              <a:rPr lang="en-IN" sz="2400" b="1" dirty="0"/>
              <a:t>Obstacles Detection </a:t>
            </a:r>
          </a:p>
          <a:p>
            <a:pPr algn="ctr"/>
            <a:endParaRPr lang="en-IN" sz="2400" b="1" dirty="0"/>
          </a:p>
          <a:p>
            <a:r>
              <a:rPr lang="en-IN" sz="2000" dirty="0"/>
              <a:t>Ultrasonic (US) sensors are used to detect obstacles in the robot’s path. When an obstacle is detected, the robot updates its path using the D* Lite algorithm. We have used HC-SR04 ultrasonic sensor.</a:t>
            </a:r>
          </a:p>
          <a:p>
            <a:r>
              <a:rPr lang="en-IN" sz="2000" dirty="0"/>
              <a:t>Ultrasonic sensor emits a sound wave of high frequency(over 20kHz), this sound wave propagates in air medium and when comes in contact with an object gets reflected and propagates back to the sensor. This reflected wave is sensed by the sensor and the time difference taken between by the wave to start and come back to the sensor is calculated. This data is used to calculate the distance between the bot and the obstacle.</a:t>
            </a:r>
          </a:p>
          <a:p>
            <a:endParaRPr lang="en-IN" sz="2000" dirty="0"/>
          </a:p>
          <a:p>
            <a:r>
              <a:rPr lang="en-IN" sz="2000" dirty="0"/>
              <a:t>FORMULA :-</a:t>
            </a:r>
          </a:p>
          <a:p>
            <a:pPr algn="ctr"/>
            <a:r>
              <a:rPr lang="en-IN" sz="2400" b="1" dirty="0"/>
              <a:t>Distance = 343 * Time taken by the wave(In seconds)</a:t>
            </a:r>
          </a:p>
        </p:txBody>
      </p:sp>
      <p:pic>
        <p:nvPicPr>
          <p:cNvPr id="3" name="Picture 2">
            <a:extLst>
              <a:ext uri="{FF2B5EF4-FFF2-40B4-BE49-F238E27FC236}">
                <a16:creationId xmlns:a16="http://schemas.microsoft.com/office/drawing/2014/main" id="{38AE324E-844A-6A31-9061-08AA27180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1779109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E98EA1-862C-10A1-7692-43DBF38082F7}"/>
              </a:ext>
            </a:extLst>
          </p:cNvPr>
          <p:cNvSpPr txBox="1"/>
          <p:nvPr/>
        </p:nvSpPr>
        <p:spPr>
          <a:xfrm>
            <a:off x="716280" y="853440"/>
            <a:ext cx="10683240" cy="3631763"/>
          </a:xfrm>
          <a:prstGeom prst="rect">
            <a:avLst/>
          </a:prstGeom>
          <a:noFill/>
        </p:spPr>
        <p:txBody>
          <a:bodyPr wrap="square" rtlCol="0">
            <a:spAutoFit/>
          </a:bodyPr>
          <a:lstStyle/>
          <a:p>
            <a:pPr algn="ctr"/>
            <a:endParaRPr lang="en-IN" sz="2400" b="1" dirty="0"/>
          </a:p>
          <a:p>
            <a:pPr algn="ctr"/>
            <a:r>
              <a:rPr lang="en-IN" sz="2400" b="1" dirty="0"/>
              <a:t>QR Code Authentication using OpenCV</a:t>
            </a:r>
          </a:p>
          <a:p>
            <a:pPr algn="ctr"/>
            <a:endParaRPr lang="en-IN" sz="2400" b="1" dirty="0"/>
          </a:p>
          <a:p>
            <a:r>
              <a:rPr lang="en-IN" sz="2000" dirty="0"/>
              <a:t>The robot uses a camera module integrated with OpenCV pipelines to detect and decode QR codes. It does the following:-</a:t>
            </a:r>
          </a:p>
          <a:p>
            <a:pPr lvl="0"/>
            <a:r>
              <a:rPr lang="en-IN" sz="2000" dirty="0"/>
              <a:t>1.Captures image</a:t>
            </a:r>
          </a:p>
          <a:p>
            <a:pPr lvl="0"/>
            <a:r>
              <a:rPr lang="en-IN" sz="2000" dirty="0"/>
              <a:t>2.Processes using OpenCV</a:t>
            </a:r>
          </a:p>
          <a:p>
            <a:pPr lvl="0"/>
            <a:r>
              <a:rPr lang="en-IN" sz="2000" dirty="0"/>
              <a:t>3.Extracts QR data</a:t>
            </a:r>
          </a:p>
          <a:p>
            <a:pPr lvl="0"/>
            <a:r>
              <a:rPr lang="en-IN" sz="2000" dirty="0"/>
              <a:t>4.Matches with stored data</a:t>
            </a:r>
          </a:p>
          <a:p>
            <a:r>
              <a:rPr lang="en-IN" sz="2000" dirty="0"/>
              <a:t>If the QR code is valid, the bot confirms the customer. </a:t>
            </a:r>
          </a:p>
          <a:p>
            <a:endParaRPr lang="en-IN" dirty="0"/>
          </a:p>
        </p:txBody>
      </p:sp>
      <p:pic>
        <p:nvPicPr>
          <p:cNvPr id="3" name="Picture 2">
            <a:extLst>
              <a:ext uri="{FF2B5EF4-FFF2-40B4-BE49-F238E27FC236}">
                <a16:creationId xmlns:a16="http://schemas.microsoft.com/office/drawing/2014/main" id="{585BC470-C466-3946-B0E9-36342D8CB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3883130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A99106-0815-E013-F31F-EC7918DCDE69}"/>
              </a:ext>
            </a:extLst>
          </p:cNvPr>
          <p:cNvSpPr txBox="1"/>
          <p:nvPr/>
        </p:nvSpPr>
        <p:spPr>
          <a:xfrm>
            <a:off x="853440" y="731520"/>
            <a:ext cx="10530840" cy="3570208"/>
          </a:xfrm>
          <a:prstGeom prst="rect">
            <a:avLst/>
          </a:prstGeom>
          <a:noFill/>
        </p:spPr>
        <p:txBody>
          <a:bodyPr wrap="square" rtlCol="0">
            <a:spAutoFit/>
          </a:bodyPr>
          <a:lstStyle/>
          <a:p>
            <a:pPr algn="ctr"/>
            <a:r>
              <a:rPr lang="en-US" sz="2400" b="1" dirty="0"/>
              <a:t>OpenCV Working Mechanism</a:t>
            </a:r>
          </a:p>
          <a:p>
            <a:pPr algn="ctr"/>
            <a:endParaRPr lang="en-US" sz="2400" b="1" dirty="0"/>
          </a:p>
          <a:p>
            <a:r>
              <a:rPr lang="en-US" sz="2000" dirty="0"/>
              <a:t>The QR code is initially captured and then image processing is initialized. The captured image of the QR code is stored in the form of a matrix. This matrix data is processed. Initially the white and black margins at the corner of the QR code is verified to detect the orientation of the QR code. Then the internal minor white  and black lines are verified to check the surface type(Curved or straight) of the QR code. Once the mapping of the QR code has been successfully done the captured image is converted into a binary representation(Black squares = 1, White squares = 0). This Binarization and Normalization process produces a unique ID which is displayed. </a:t>
            </a:r>
          </a:p>
          <a:p>
            <a:endParaRPr lang="en-IN" dirty="0"/>
          </a:p>
        </p:txBody>
      </p:sp>
      <p:pic>
        <p:nvPicPr>
          <p:cNvPr id="3" name="Picture 2">
            <a:extLst>
              <a:ext uri="{FF2B5EF4-FFF2-40B4-BE49-F238E27FC236}">
                <a16:creationId xmlns:a16="http://schemas.microsoft.com/office/drawing/2014/main" id="{06E16D12-DF84-4B67-1585-00A887EE84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18097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C135D5-80EC-FED8-39CB-32DE150A1231}"/>
              </a:ext>
            </a:extLst>
          </p:cNvPr>
          <p:cNvPicPr>
            <a:picLocks noChangeAspect="1"/>
          </p:cNvPicPr>
          <p:nvPr/>
        </p:nvPicPr>
        <p:blipFill>
          <a:blip r:embed="rId2"/>
          <a:stretch>
            <a:fillRect/>
          </a:stretch>
        </p:blipFill>
        <p:spPr>
          <a:xfrm>
            <a:off x="1127330" y="1317276"/>
            <a:ext cx="9937340" cy="5371391"/>
          </a:xfrm>
          <a:prstGeom prst="rect">
            <a:avLst/>
          </a:prstGeom>
        </p:spPr>
      </p:pic>
      <p:sp>
        <p:nvSpPr>
          <p:cNvPr id="4" name="TextBox 3">
            <a:extLst>
              <a:ext uri="{FF2B5EF4-FFF2-40B4-BE49-F238E27FC236}">
                <a16:creationId xmlns:a16="http://schemas.microsoft.com/office/drawing/2014/main" id="{584CDED5-F0BB-FA76-01E8-B3C1851026C0}"/>
              </a:ext>
            </a:extLst>
          </p:cNvPr>
          <p:cNvSpPr txBox="1"/>
          <p:nvPr/>
        </p:nvSpPr>
        <p:spPr>
          <a:xfrm>
            <a:off x="2590799" y="240058"/>
            <a:ext cx="6492240" cy="1077218"/>
          </a:xfrm>
          <a:prstGeom prst="rect">
            <a:avLst/>
          </a:prstGeom>
          <a:noFill/>
        </p:spPr>
        <p:txBody>
          <a:bodyPr wrap="square" rtlCol="0">
            <a:spAutoFit/>
          </a:bodyPr>
          <a:lstStyle/>
          <a:p>
            <a:pPr algn="ctr"/>
            <a:r>
              <a:rPr lang="en-US" sz="3200" b="1" dirty="0"/>
              <a:t>QR Code Graphical User </a:t>
            </a:r>
          </a:p>
          <a:p>
            <a:pPr algn="ctr"/>
            <a:r>
              <a:rPr lang="en-US" sz="3200" b="1" dirty="0"/>
              <a:t>Interface</a:t>
            </a:r>
            <a:endParaRPr lang="en-IN" sz="3200" b="1" dirty="0"/>
          </a:p>
        </p:txBody>
      </p:sp>
      <p:pic>
        <p:nvPicPr>
          <p:cNvPr id="5" name="Picture 4">
            <a:extLst>
              <a:ext uri="{FF2B5EF4-FFF2-40B4-BE49-F238E27FC236}">
                <a16:creationId xmlns:a16="http://schemas.microsoft.com/office/drawing/2014/main" id="{19C62867-7E6F-8A2C-C2A3-595658B57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3440" y="1"/>
            <a:ext cx="3718560" cy="996458"/>
          </a:xfrm>
          <a:prstGeom prst="rect">
            <a:avLst/>
          </a:prstGeom>
        </p:spPr>
      </p:pic>
    </p:spTree>
    <p:extLst>
      <p:ext uri="{BB962C8B-B14F-4D97-AF65-F5344CB8AC3E}">
        <p14:creationId xmlns:p14="http://schemas.microsoft.com/office/powerpoint/2010/main" val="2034374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a:extLst>
              <a:ext uri="{FF2B5EF4-FFF2-40B4-BE49-F238E27FC236}">
                <a16:creationId xmlns:a16="http://schemas.microsoft.com/office/drawing/2014/main" id="{049E0F6E-8F12-C514-CE67-433C7CABFD8A}"/>
              </a:ext>
            </a:extLst>
          </p:cNvPr>
          <p:cNvSpPr>
            <a:spLocks noChangeArrowheads="1"/>
          </p:cNvSpPr>
          <p:nvPr/>
        </p:nvSpPr>
        <p:spPr bwMode="auto">
          <a:xfrm>
            <a:off x="182880" y="489490"/>
            <a:ext cx="11597640" cy="2231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48" tIns="45720" rIns="19044"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Hardware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Motor Driver</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The directions of the robot are being controlled by differential drive method. To control the motors, we have used L298N Dual H-bridge Motor Driver module.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31" name="Picture 1">
            <a:extLst>
              <a:ext uri="{FF2B5EF4-FFF2-40B4-BE49-F238E27FC236}">
                <a16:creationId xmlns:a16="http://schemas.microsoft.com/office/drawing/2014/main" id="{146CEF3D-F17D-E103-43AF-C9C3FCCDF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320" y="2751990"/>
            <a:ext cx="5051360" cy="361652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43AF746A-B003-865A-E682-DD1F7CEBFD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2284077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69BE79-5A72-3104-CBCD-E390A624101B}"/>
              </a:ext>
            </a:extLst>
          </p:cNvPr>
          <p:cNvSpPr txBox="1"/>
          <p:nvPr/>
        </p:nvSpPr>
        <p:spPr>
          <a:xfrm>
            <a:off x="937260" y="650707"/>
            <a:ext cx="10721340" cy="113877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Battery</a:t>
            </a:r>
            <a:endParaRPr kumimoji="0" lang="en-US" altLang="en-US" sz="11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We used 4 Lithium-ion rechargeable battery of 3.7V each to aggregate a net voltage of 12V</a:t>
            </a: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t>
            </a:r>
            <a:endParaRPr lang="en-IN" dirty="0"/>
          </a:p>
        </p:txBody>
      </p:sp>
      <p:pic>
        <p:nvPicPr>
          <p:cNvPr id="4" name="Picture 3">
            <a:extLst>
              <a:ext uri="{FF2B5EF4-FFF2-40B4-BE49-F238E27FC236}">
                <a16:creationId xmlns:a16="http://schemas.microsoft.com/office/drawing/2014/main" id="{7BF9CBEA-B9EA-DB52-DBAB-A25FBCBEE86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8428" r="202" b="27218"/>
          <a:stretch>
            <a:fillRect/>
          </a:stretch>
        </p:blipFill>
        <p:spPr bwMode="auto">
          <a:xfrm>
            <a:off x="2766059" y="2338704"/>
            <a:ext cx="6398173" cy="2842895"/>
          </a:xfrm>
          <a:prstGeom prst="rect">
            <a:avLst/>
          </a:prstGeom>
          <a:ln>
            <a:noFill/>
          </a:ln>
          <a:extLst>
            <a:ext uri="{53640926-AAD7-44D8-BBD7-CCE9431645EC}">
              <a14:shadowObscured xmlns:a14="http://schemas.microsoft.com/office/drawing/2010/main"/>
            </a:ext>
          </a:extLst>
        </p:spPr>
      </p:pic>
      <p:pic>
        <p:nvPicPr>
          <p:cNvPr id="2" name="Picture 1">
            <a:extLst>
              <a:ext uri="{FF2B5EF4-FFF2-40B4-BE49-F238E27FC236}">
                <a16:creationId xmlns:a16="http://schemas.microsoft.com/office/drawing/2014/main" id="{93FEC748-FC83-ED17-3ABA-361DEDE05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2011565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83FBDE-CA1A-270A-F0B1-06CCF228ED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89910" y="2225040"/>
            <a:ext cx="5231130" cy="3627505"/>
          </a:xfrm>
          <a:prstGeom prst="rect">
            <a:avLst/>
          </a:prstGeom>
        </p:spPr>
      </p:pic>
      <p:sp>
        <p:nvSpPr>
          <p:cNvPr id="5" name="TextBox 4">
            <a:extLst>
              <a:ext uri="{FF2B5EF4-FFF2-40B4-BE49-F238E27FC236}">
                <a16:creationId xmlns:a16="http://schemas.microsoft.com/office/drawing/2014/main" id="{AB989903-C05B-03FE-99A1-C88F5A54FEE3}"/>
              </a:ext>
            </a:extLst>
          </p:cNvPr>
          <p:cNvSpPr txBox="1"/>
          <p:nvPr/>
        </p:nvSpPr>
        <p:spPr>
          <a:xfrm>
            <a:off x="838200" y="738405"/>
            <a:ext cx="10622280" cy="1046633"/>
          </a:xfrm>
          <a:prstGeom prst="rect">
            <a:avLst/>
          </a:prstGeom>
          <a:noFill/>
        </p:spPr>
        <p:txBody>
          <a:bodyPr wrap="square">
            <a:spAutoFit/>
          </a:bodyPr>
          <a:lstStyle/>
          <a:p>
            <a:pPr marL="6350" indent="-6350" algn="just">
              <a:lnSpc>
                <a:spcPct val="149000"/>
              </a:lnSpc>
              <a:spcAft>
                <a:spcPts val="15"/>
              </a:spcAft>
              <a:buNone/>
            </a:pPr>
            <a:r>
              <a:rPr lang="en-IN" sz="2400" b="1" kern="100" dirty="0">
                <a:solidFill>
                  <a:srgbClr val="000000"/>
                </a:solidFill>
                <a:effectLst/>
                <a:latin typeface="Times New Roman" panose="02020603050405020304" pitchFamily="18" charset="0"/>
                <a:ea typeface="Times New Roman" panose="02020603050405020304" pitchFamily="18" charset="0"/>
              </a:rPr>
              <a:t>DC Buck Driver</a:t>
            </a:r>
            <a:endParaRPr lang="en-IN" sz="2000" kern="100" dirty="0">
              <a:solidFill>
                <a:srgbClr val="000000"/>
              </a:solidFill>
              <a:effectLst/>
              <a:latin typeface="Times New Roman" panose="02020603050405020304" pitchFamily="18" charset="0"/>
              <a:ea typeface="Times New Roman" panose="02020603050405020304" pitchFamily="18" charset="0"/>
            </a:endParaRPr>
          </a:p>
          <a:p>
            <a:pPr marL="6350" indent="-6350" algn="just">
              <a:lnSpc>
                <a:spcPct val="149000"/>
              </a:lnSpc>
              <a:spcAft>
                <a:spcPts val="15"/>
              </a:spcAft>
              <a:buNone/>
            </a:pPr>
            <a:r>
              <a:rPr lang="en-IN" sz="2000" kern="100" dirty="0">
                <a:solidFill>
                  <a:srgbClr val="000000"/>
                </a:solidFill>
                <a:effectLst/>
                <a:latin typeface="Times New Roman" panose="02020603050405020304" pitchFamily="18" charset="0"/>
                <a:ea typeface="Times New Roman" panose="02020603050405020304" pitchFamily="18" charset="0"/>
              </a:rPr>
              <a:t>We used a LM2596 DC-DC Buck driver to step down the higher input voltage to a save limit of 12V</a:t>
            </a:r>
            <a:r>
              <a:rPr lang="en-IN" sz="1800" kern="100" dirty="0">
                <a:solidFill>
                  <a:srgbClr val="000000"/>
                </a:solidFill>
                <a:effectLst/>
                <a:latin typeface="Times New Roman" panose="02020603050405020304" pitchFamily="18" charset="0"/>
                <a:ea typeface="Times New Roman" panose="02020603050405020304" pitchFamily="18" charset="0"/>
              </a:rPr>
              <a:t>.</a:t>
            </a:r>
          </a:p>
        </p:txBody>
      </p:sp>
      <p:pic>
        <p:nvPicPr>
          <p:cNvPr id="3" name="Picture 2">
            <a:extLst>
              <a:ext uri="{FF2B5EF4-FFF2-40B4-BE49-F238E27FC236}">
                <a16:creationId xmlns:a16="http://schemas.microsoft.com/office/drawing/2014/main" id="{D315B0D0-9DAC-D2CF-06C0-682EBBBE6B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2046386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3EC9AC5-E208-84C1-01B7-A57D061DA369}"/>
              </a:ext>
            </a:extLst>
          </p:cNvPr>
          <p:cNvSpPr>
            <a:spLocks noChangeArrowheads="1"/>
          </p:cNvSpPr>
          <p:nvPr/>
        </p:nvSpPr>
        <p:spPr bwMode="auto">
          <a:xfrm>
            <a:off x="579120" y="-100780"/>
            <a:ext cx="11094720"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solidFill>
                <a:srgbClr val="000000"/>
              </a:solidFill>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Wheel Rotation Measurement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 speed sensor LM393 is used to measure wheel rotation speed, which helps in :-</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Distance calculation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Speed monitoring</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Accurate navigation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4">
            <a:extLst>
              <a:ext uri="{FF2B5EF4-FFF2-40B4-BE49-F238E27FC236}">
                <a16:creationId xmlns:a16="http://schemas.microsoft.com/office/drawing/2014/main" id="{EB52068B-CEE2-4D32-13AE-A1B76A252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9040" y="2976985"/>
            <a:ext cx="4434840" cy="384837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AF3AD0C-3D3D-3AE0-79A3-84FC5769CF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3983130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3">
            <a:extLst>
              <a:ext uri="{FF2B5EF4-FFF2-40B4-BE49-F238E27FC236}">
                <a16:creationId xmlns:a16="http://schemas.microsoft.com/office/drawing/2014/main" id="{A8AFAE44-2255-1A79-2F94-05008A61C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0380" y="2061210"/>
            <a:ext cx="5166360" cy="4248031"/>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2">
            <a:extLst>
              <a:ext uri="{FF2B5EF4-FFF2-40B4-BE49-F238E27FC236}">
                <a16:creationId xmlns:a16="http://schemas.microsoft.com/office/drawing/2014/main" id="{97A6D626-EDC1-F802-9FF4-3D873DD7B29B}"/>
              </a:ext>
            </a:extLst>
          </p:cNvPr>
          <p:cNvSpPr txBox="1">
            <a:spLocks noChangeArrowheads="1"/>
          </p:cNvSpPr>
          <p:nvPr/>
        </p:nvSpPr>
        <p:spPr bwMode="auto">
          <a:xfrm>
            <a:off x="412115" y="3059668"/>
            <a:ext cx="2330450"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Bluetooth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Module</a:t>
            </a:r>
          </a:p>
        </p:txBody>
      </p:sp>
      <p:sp>
        <p:nvSpPr>
          <p:cNvPr id="3" name="Rectangle 3">
            <a:extLst>
              <a:ext uri="{FF2B5EF4-FFF2-40B4-BE49-F238E27FC236}">
                <a16:creationId xmlns:a16="http://schemas.microsoft.com/office/drawing/2014/main" id="{E3342AD1-4027-1E10-3AF3-F073E75C5425}"/>
              </a:ext>
            </a:extLst>
          </p:cNvPr>
          <p:cNvSpPr>
            <a:spLocks noChangeArrowheads="1"/>
          </p:cNvSpPr>
          <p:nvPr/>
        </p:nvSpPr>
        <p:spPr bwMode="auto">
          <a:xfrm>
            <a:off x="457200" y="411481"/>
            <a:ext cx="11963400"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Communication System</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Bluetooth module enables:</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Wireless code upload</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Command transmission</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Real-time monitoring</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5">
            <a:extLst>
              <a:ext uri="{FF2B5EF4-FFF2-40B4-BE49-F238E27FC236}">
                <a16:creationId xmlns:a16="http://schemas.microsoft.com/office/drawing/2014/main" id="{71ED289D-69C9-49EF-7CBB-E1838FDB370A}"/>
              </a:ext>
            </a:extLst>
          </p:cNvPr>
          <p:cNvSpPr>
            <a:spLocks noChangeArrowheads="1"/>
          </p:cNvSpPr>
          <p:nvPr/>
        </p:nvSpPr>
        <p:spPr bwMode="auto">
          <a:xfrm>
            <a:off x="228600" y="7315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97EF1106-9168-B3FF-4CCA-D2D029099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881188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D5B672-3773-1CF2-80EE-215E6D6538F8}"/>
              </a:ext>
            </a:extLst>
          </p:cNvPr>
          <p:cNvSpPr txBox="1"/>
          <p:nvPr/>
        </p:nvSpPr>
        <p:spPr>
          <a:xfrm>
            <a:off x="594359" y="411480"/>
            <a:ext cx="11003280" cy="861774"/>
          </a:xfrm>
          <a:prstGeom prst="rect">
            <a:avLst/>
          </a:prstGeom>
          <a:noFill/>
        </p:spPr>
        <p:txBody>
          <a:bodyPr wrap="square" rtlCol="0">
            <a:spAutoFit/>
          </a:bodyPr>
          <a:lstStyle/>
          <a:p>
            <a:pPr algn="ctr"/>
            <a:r>
              <a:rPr lang="en-US" sz="3200" b="1" dirty="0"/>
              <a:t>SIMULATION</a:t>
            </a:r>
          </a:p>
          <a:p>
            <a:endParaRPr lang="en-IN" dirty="0"/>
          </a:p>
        </p:txBody>
      </p:sp>
      <p:pic>
        <p:nvPicPr>
          <p:cNvPr id="3" name="Picture 2">
            <a:extLst>
              <a:ext uri="{FF2B5EF4-FFF2-40B4-BE49-F238E27FC236}">
                <a16:creationId xmlns:a16="http://schemas.microsoft.com/office/drawing/2014/main" id="{4653A9F7-DA09-C30D-B5B2-376B74B77A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082" y="1191974"/>
            <a:ext cx="10113834" cy="5523786"/>
          </a:xfrm>
          <a:prstGeom prst="rect">
            <a:avLst/>
          </a:prstGeom>
        </p:spPr>
      </p:pic>
      <p:pic>
        <p:nvPicPr>
          <p:cNvPr id="4" name="Picture 3">
            <a:extLst>
              <a:ext uri="{FF2B5EF4-FFF2-40B4-BE49-F238E27FC236}">
                <a16:creationId xmlns:a16="http://schemas.microsoft.com/office/drawing/2014/main" id="{22B79F1B-8320-1E1F-E428-642506E1E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6710" y="0"/>
            <a:ext cx="3955290" cy="1059894"/>
          </a:xfrm>
          <a:prstGeom prst="rect">
            <a:avLst/>
          </a:prstGeom>
        </p:spPr>
      </p:pic>
    </p:spTree>
    <p:extLst>
      <p:ext uri="{BB962C8B-B14F-4D97-AF65-F5344CB8AC3E}">
        <p14:creationId xmlns:p14="http://schemas.microsoft.com/office/powerpoint/2010/main" val="730536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0291201-7BCF-1B76-0540-396DE2906CA1}"/>
              </a:ext>
            </a:extLst>
          </p:cNvPr>
          <p:cNvPicPr>
            <a:picLocks noChangeAspect="1"/>
          </p:cNvPicPr>
          <p:nvPr/>
        </p:nvPicPr>
        <p:blipFill>
          <a:blip r:embed="rId2">
            <a:extLst>
              <a:ext uri="{28A0092B-C50C-407E-A947-70E740481C1C}">
                <a14:useLocalDpi xmlns:a14="http://schemas.microsoft.com/office/drawing/2010/main" val="0"/>
              </a:ext>
            </a:extLst>
          </a:blip>
          <a:srcRect b="5750"/>
          <a:stretch>
            <a:fillRect/>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BAB9FF87-07D9-B601-6BDB-EA64D993106B}"/>
              </a:ext>
            </a:extLst>
          </p:cNvPr>
          <p:cNvSpPr txBox="1"/>
          <p:nvPr/>
        </p:nvSpPr>
        <p:spPr>
          <a:xfrm>
            <a:off x="8658508" y="514847"/>
            <a:ext cx="3445765" cy="3692028"/>
          </a:xfrm>
          <a:prstGeom prst="rect">
            <a:avLst/>
          </a:prstGeom>
          <a:noFill/>
        </p:spPr>
        <p:txBody>
          <a:bodyPr vert="horz" lIns="91440" tIns="45720" rIns="91440" bIns="45720" rtlCol="0" anchor="b">
            <a:normAutofit/>
          </a:bodyPr>
          <a:lstStyle/>
          <a:p>
            <a:pPr>
              <a:lnSpc>
                <a:spcPct val="90000"/>
              </a:lnSpc>
              <a:spcBef>
                <a:spcPct val="0"/>
              </a:spcBef>
              <a:spcAft>
                <a:spcPts val="600"/>
              </a:spcAft>
            </a:pPr>
            <a:r>
              <a:rPr lang="en-US" sz="5200" dirty="0">
                <a:latin typeface="+mj-lt"/>
                <a:ea typeface="+mj-ea"/>
                <a:cs typeface="+mj-cs"/>
              </a:rPr>
              <a:t>ROBOT IMAGE</a:t>
            </a:r>
          </a:p>
        </p:txBody>
      </p:sp>
    </p:spTree>
    <p:extLst>
      <p:ext uri="{BB962C8B-B14F-4D97-AF65-F5344CB8AC3E}">
        <p14:creationId xmlns:p14="http://schemas.microsoft.com/office/powerpoint/2010/main" val="3553610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71AB60-1054-5F21-A28C-234F64A71987}"/>
              </a:ext>
            </a:extLst>
          </p:cNvPr>
          <p:cNvSpPr txBox="1"/>
          <p:nvPr/>
        </p:nvSpPr>
        <p:spPr>
          <a:xfrm>
            <a:off x="152400" y="1226306"/>
            <a:ext cx="11887200" cy="5408917"/>
          </a:xfrm>
          <a:prstGeom prst="rect">
            <a:avLst/>
          </a:prstGeom>
          <a:noFill/>
        </p:spPr>
        <p:txBody>
          <a:bodyPr wrap="square">
            <a:spAutoFit/>
          </a:bodyPr>
          <a:lstStyle/>
          <a:p>
            <a:pPr marL="6350" indent="-6350" algn="just">
              <a:lnSpc>
                <a:spcPct val="149000"/>
              </a:lnSpc>
              <a:spcAft>
                <a:spcPts val="15"/>
              </a:spcAft>
              <a:buNone/>
            </a:pPr>
            <a:r>
              <a:rPr lang="en-IN" kern="100" dirty="0">
                <a:solidFill>
                  <a:srgbClr val="000000"/>
                </a:solidFill>
                <a:latin typeface="Times New Roman" panose="02020603050405020304" pitchFamily="18" charset="0"/>
                <a:ea typeface="Times New Roman" panose="02020603050405020304" pitchFamily="18" charset="0"/>
              </a:rPr>
              <a:t>T</a:t>
            </a:r>
            <a:r>
              <a:rPr lang="en-IN" sz="1800" kern="100" dirty="0">
                <a:solidFill>
                  <a:srgbClr val="000000"/>
                </a:solidFill>
                <a:effectLst/>
                <a:latin typeface="Times New Roman" panose="02020603050405020304" pitchFamily="18" charset="0"/>
                <a:ea typeface="Times New Roman" panose="02020603050405020304" pitchFamily="18" charset="0"/>
              </a:rPr>
              <a:t>he project achieves its objective of developing a smart, autonomous delivery system that reduces human effort, improves efficiency, and supports hygienic service operations.</a:t>
            </a:r>
          </a:p>
          <a:p>
            <a:pPr marL="6350" indent="-6350" algn="just">
              <a:lnSpc>
                <a:spcPct val="149000"/>
              </a:lnSpc>
              <a:spcAft>
                <a:spcPts val="1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42900" lvl="0" indent="-342900" algn="just">
              <a:lnSpc>
                <a:spcPct val="149000"/>
              </a:lnSpc>
              <a:buFont typeface="Symbol" panose="05050102010706020507" pitchFamily="18" charset="2"/>
              <a:buChar char=""/>
            </a:pPr>
            <a:r>
              <a:rPr lang="en-IN" sz="1800" kern="100" dirty="0">
                <a:solidFill>
                  <a:srgbClr val="000000"/>
                </a:solidFill>
                <a:effectLst/>
                <a:latin typeface="Times New Roman" panose="02020603050405020304" pitchFamily="18" charset="0"/>
                <a:ea typeface="Times New Roman" panose="02020603050405020304" pitchFamily="18" charset="0"/>
              </a:rPr>
              <a:t>The robot can be made smarter by adding </a:t>
            </a:r>
            <a:r>
              <a:rPr lang="en-IN" sz="1800" b="1" kern="100" dirty="0">
                <a:solidFill>
                  <a:srgbClr val="000000"/>
                </a:solidFill>
                <a:effectLst/>
                <a:latin typeface="Times New Roman" panose="02020603050405020304" pitchFamily="18" charset="0"/>
                <a:ea typeface="Times New Roman" panose="02020603050405020304" pitchFamily="18" charset="0"/>
              </a:rPr>
              <a:t>AI and Machine Learning</a:t>
            </a:r>
            <a:r>
              <a:rPr lang="en-IN" sz="1800" kern="100" dirty="0">
                <a:solidFill>
                  <a:srgbClr val="000000"/>
                </a:solidFill>
                <a:effectLst/>
                <a:latin typeface="Times New Roman" panose="02020603050405020304" pitchFamily="18" charset="0"/>
                <a:ea typeface="Times New Roman" panose="02020603050405020304" pitchFamily="18" charset="0"/>
              </a:rPr>
              <a:t>, so it can learn from its environment and make better decisions while navigating. </a:t>
            </a:r>
          </a:p>
          <a:p>
            <a:pPr marL="342900" lvl="0" indent="-342900" algn="just">
              <a:lnSpc>
                <a:spcPct val="149000"/>
              </a:lnSpc>
              <a:buFont typeface="Symbol" panose="05050102010706020507" pitchFamily="18" charset="2"/>
              <a:buChar char=""/>
            </a:pPr>
            <a:r>
              <a:rPr lang="en-IN" sz="1800" kern="100" dirty="0">
                <a:solidFill>
                  <a:srgbClr val="000000"/>
                </a:solidFill>
                <a:effectLst/>
                <a:latin typeface="Times New Roman" panose="02020603050405020304" pitchFamily="18" charset="0"/>
                <a:ea typeface="Times New Roman" panose="02020603050405020304" pitchFamily="18" charset="0"/>
              </a:rPr>
              <a:t>It can be upgraded to work in completely new places by using </a:t>
            </a:r>
            <a:r>
              <a:rPr lang="en-IN" sz="1800" b="1" kern="100" dirty="0">
                <a:solidFill>
                  <a:srgbClr val="000000"/>
                </a:solidFill>
                <a:effectLst/>
                <a:latin typeface="Times New Roman" panose="02020603050405020304" pitchFamily="18" charset="0"/>
                <a:ea typeface="Times New Roman" panose="02020603050405020304" pitchFamily="18" charset="0"/>
              </a:rPr>
              <a:t>SLAM</a:t>
            </a:r>
            <a:r>
              <a:rPr lang="en-IN" sz="1800" kern="100" dirty="0">
                <a:solidFill>
                  <a:srgbClr val="000000"/>
                </a:solidFill>
                <a:effectLst/>
                <a:latin typeface="Times New Roman" panose="02020603050405020304" pitchFamily="18" charset="0"/>
                <a:ea typeface="Times New Roman" panose="02020603050405020304" pitchFamily="18" charset="0"/>
              </a:rPr>
              <a:t>, allowing it to create maps and move without predefined paths. </a:t>
            </a:r>
          </a:p>
          <a:p>
            <a:pPr marL="342900" lvl="0" indent="-342900" algn="just">
              <a:lnSpc>
                <a:spcPct val="149000"/>
              </a:lnSpc>
              <a:buFont typeface="Symbol" panose="05050102010706020507" pitchFamily="18" charset="2"/>
              <a:buChar char=""/>
            </a:pPr>
            <a:r>
              <a:rPr lang="en-IN" sz="1800" kern="100" dirty="0">
                <a:solidFill>
                  <a:srgbClr val="000000"/>
                </a:solidFill>
                <a:effectLst/>
                <a:latin typeface="Times New Roman" panose="02020603050405020304" pitchFamily="18" charset="0"/>
                <a:ea typeface="Times New Roman" panose="02020603050405020304" pitchFamily="18" charset="0"/>
              </a:rPr>
              <a:t>Instead of basic ultrasonic sensors, more advanced technologies like </a:t>
            </a:r>
            <a:r>
              <a:rPr lang="en-IN" sz="1800" b="1" kern="100" dirty="0">
                <a:solidFill>
                  <a:srgbClr val="000000"/>
                </a:solidFill>
                <a:effectLst/>
                <a:latin typeface="Times New Roman" panose="02020603050405020304" pitchFamily="18" charset="0"/>
                <a:ea typeface="Times New Roman" panose="02020603050405020304" pitchFamily="18" charset="0"/>
              </a:rPr>
              <a:t>LiDAR</a:t>
            </a:r>
            <a:r>
              <a:rPr lang="en-IN" sz="1800" kern="100" dirty="0">
                <a:solidFill>
                  <a:srgbClr val="000000"/>
                </a:solidFill>
                <a:effectLst/>
                <a:latin typeface="Times New Roman" panose="02020603050405020304" pitchFamily="18" charset="0"/>
                <a:ea typeface="Times New Roman" panose="02020603050405020304" pitchFamily="18" charset="0"/>
              </a:rPr>
              <a:t> and depth cameras can be used to improve obstacle detection and accuracy. </a:t>
            </a:r>
          </a:p>
          <a:p>
            <a:pPr marL="342900" lvl="0" indent="-342900" algn="just">
              <a:lnSpc>
                <a:spcPct val="149000"/>
              </a:lnSpc>
              <a:buFont typeface="Symbol" panose="05050102010706020507" pitchFamily="18" charset="2"/>
              <a:buChar char=""/>
            </a:pPr>
            <a:r>
              <a:rPr lang="en-IN" sz="1800" kern="100" dirty="0">
                <a:solidFill>
                  <a:srgbClr val="000000"/>
                </a:solidFill>
                <a:effectLst/>
                <a:latin typeface="Times New Roman" panose="02020603050405020304" pitchFamily="18" charset="0"/>
                <a:ea typeface="Times New Roman" panose="02020603050405020304" pitchFamily="18" charset="0"/>
              </a:rPr>
              <a:t>The security system can be strengthened by adding facial recognition along with QR verification using OpenCV, making delivery safer. </a:t>
            </a:r>
          </a:p>
          <a:p>
            <a:pPr marL="342900" lvl="0" indent="-342900" algn="just">
              <a:lnSpc>
                <a:spcPct val="149000"/>
              </a:lnSpc>
              <a:buFont typeface="Symbol" panose="05050102010706020507" pitchFamily="18" charset="2"/>
              <a:buChar char=""/>
            </a:pPr>
            <a:r>
              <a:rPr lang="en-IN" sz="1800" kern="100" dirty="0">
                <a:solidFill>
                  <a:srgbClr val="000000"/>
                </a:solidFill>
                <a:effectLst/>
                <a:latin typeface="Times New Roman" panose="02020603050405020304" pitchFamily="18" charset="0"/>
                <a:ea typeface="Times New Roman" panose="02020603050405020304" pitchFamily="18" charset="0"/>
              </a:rPr>
              <a:t>By integrating with cloud systems, all robot data can be stored and analysed to improve performance over time. </a:t>
            </a:r>
          </a:p>
          <a:p>
            <a:pPr marL="6350" indent="-6350" algn="just">
              <a:lnSpc>
                <a:spcPct val="149000"/>
              </a:lnSpc>
              <a:spcAft>
                <a:spcPts val="1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p:txBody>
      </p:sp>
      <p:sp>
        <p:nvSpPr>
          <p:cNvPr id="4" name="TextBox 3">
            <a:extLst>
              <a:ext uri="{FF2B5EF4-FFF2-40B4-BE49-F238E27FC236}">
                <a16:creationId xmlns:a16="http://schemas.microsoft.com/office/drawing/2014/main" id="{D178689A-678B-4758-2A42-543DE42115B5}"/>
              </a:ext>
            </a:extLst>
          </p:cNvPr>
          <p:cNvSpPr txBox="1"/>
          <p:nvPr/>
        </p:nvSpPr>
        <p:spPr>
          <a:xfrm>
            <a:off x="4389120" y="548640"/>
            <a:ext cx="4191000" cy="461665"/>
          </a:xfrm>
          <a:prstGeom prst="rect">
            <a:avLst/>
          </a:prstGeom>
          <a:noFill/>
        </p:spPr>
        <p:txBody>
          <a:bodyPr wrap="square" rtlCol="0">
            <a:spAutoFit/>
          </a:bodyPr>
          <a:lstStyle/>
          <a:p>
            <a:r>
              <a:rPr lang="en-US" sz="2400" b="1" dirty="0"/>
              <a:t>FUTURE UPGRADES</a:t>
            </a:r>
            <a:endParaRPr lang="en-IN" sz="2400" b="1" dirty="0"/>
          </a:p>
        </p:txBody>
      </p:sp>
      <p:pic>
        <p:nvPicPr>
          <p:cNvPr id="2" name="Picture 1">
            <a:extLst>
              <a:ext uri="{FF2B5EF4-FFF2-40B4-BE49-F238E27FC236}">
                <a16:creationId xmlns:a16="http://schemas.microsoft.com/office/drawing/2014/main" id="{1C45BEFD-817B-C1CA-37CD-151A4ED1BD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795336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FC3BFA-9E07-DA1E-65D7-B929E909816A}"/>
              </a:ext>
            </a:extLst>
          </p:cNvPr>
          <p:cNvSpPr txBox="1"/>
          <p:nvPr/>
        </p:nvSpPr>
        <p:spPr>
          <a:xfrm>
            <a:off x="762000" y="1693903"/>
            <a:ext cx="10668000" cy="2246769"/>
          </a:xfrm>
          <a:prstGeom prst="rect">
            <a:avLst/>
          </a:prstGeom>
          <a:noFill/>
        </p:spPr>
        <p:txBody>
          <a:bodyPr wrap="square" rtlCol="0">
            <a:spAutoFit/>
          </a:bodyPr>
          <a:lstStyle/>
          <a:p>
            <a:pPr algn="ctr"/>
            <a:r>
              <a:rPr lang="en-US" sz="2000" b="1" dirty="0"/>
              <a:t>CONCLUSION</a:t>
            </a:r>
          </a:p>
          <a:p>
            <a:pPr algn="ctr"/>
            <a:endParaRPr lang="en-US" sz="2000" b="1" dirty="0"/>
          </a:p>
          <a:p>
            <a:pPr algn="just"/>
            <a:r>
              <a:rPr lang="en-US" sz="2000" dirty="0"/>
              <a:t>The food delivery bot is an initial idea for implementing our basic knowledge about AI and robotics. This robot can be used to explore unknown environments in the future, it can be used to deliver products to places which cannot be reached by humans.  We have successfully achieved our first goal by updating and implementing the knowledge we gained from our teachers, and we are still working in the process of upgrading ourselves.</a:t>
            </a:r>
            <a:endParaRPr lang="en-IN" sz="2000" dirty="0"/>
          </a:p>
        </p:txBody>
      </p:sp>
      <p:pic>
        <p:nvPicPr>
          <p:cNvPr id="3" name="Picture 2">
            <a:extLst>
              <a:ext uri="{FF2B5EF4-FFF2-40B4-BE49-F238E27FC236}">
                <a16:creationId xmlns:a16="http://schemas.microsoft.com/office/drawing/2014/main" id="{19F53229-583C-6831-BD00-0CFD6B4F9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2361785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E8B6F6-9EEA-5DD5-979E-51C3358E1323}"/>
              </a:ext>
            </a:extLst>
          </p:cNvPr>
          <p:cNvSpPr txBox="1"/>
          <p:nvPr/>
        </p:nvSpPr>
        <p:spPr>
          <a:xfrm>
            <a:off x="990600" y="2404289"/>
            <a:ext cx="10226040" cy="1200329"/>
          </a:xfrm>
          <a:prstGeom prst="rect">
            <a:avLst/>
          </a:prstGeom>
          <a:noFill/>
        </p:spPr>
        <p:txBody>
          <a:bodyPr wrap="square" rtlCol="0">
            <a:spAutoFit/>
          </a:bodyPr>
          <a:lstStyle/>
          <a:p>
            <a:pPr algn="ctr"/>
            <a:r>
              <a:rPr lang="en-US" sz="7200" b="1" dirty="0"/>
              <a:t>THANK YOU</a:t>
            </a:r>
            <a:endParaRPr lang="en-IN" sz="7200" b="1" dirty="0"/>
          </a:p>
        </p:txBody>
      </p:sp>
      <p:pic>
        <p:nvPicPr>
          <p:cNvPr id="3" name="Picture 2">
            <a:extLst>
              <a:ext uri="{FF2B5EF4-FFF2-40B4-BE49-F238E27FC236}">
                <a16:creationId xmlns:a16="http://schemas.microsoft.com/office/drawing/2014/main" id="{7F59474C-77A3-9664-F103-0F7995AA7B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106" y="0"/>
            <a:ext cx="3915894" cy="1049337"/>
          </a:xfrm>
          <a:prstGeom prst="rect">
            <a:avLst/>
          </a:prstGeom>
        </p:spPr>
      </p:pic>
    </p:spTree>
    <p:extLst>
      <p:ext uri="{BB962C8B-B14F-4D97-AF65-F5344CB8AC3E}">
        <p14:creationId xmlns:p14="http://schemas.microsoft.com/office/powerpoint/2010/main" val="1249894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9FEDFEF19B6904B86E3B467703D51FC" ma:contentTypeVersion="1" ma:contentTypeDescription="Create a new document." ma:contentTypeScope="" ma:versionID="2b4085de5954ed3caa883a43b648eaec">
  <xsd:schema xmlns:xsd="http://www.w3.org/2001/XMLSchema" xmlns:xs="http://www.w3.org/2001/XMLSchema" xmlns:p="http://schemas.microsoft.com/office/2006/metadata/properties" xmlns:ns3="0c4d11f4-4cd6-4250-bf77-f0f28d6643cf" targetNamespace="http://schemas.microsoft.com/office/2006/metadata/properties" ma:root="true" ma:fieldsID="f62ca45eb1302dca79df6d0575510946" ns3:_="">
    <xsd:import namespace="0c4d11f4-4cd6-4250-bf77-f0f28d6643cf"/>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4d11f4-4cd6-4250-bf77-f0f28d6643c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7C4623-F26A-4BF2-834B-1A6D320D49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4d11f4-4cd6-4250-bf77-f0f28d6643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9BC2FA-D14D-4D27-832F-4C3889ABC7CB}">
  <ds:schemaRefs>
    <ds:schemaRef ds:uri="http://schemas.microsoft.com/sharepoint/v3/contenttype/forms"/>
  </ds:schemaRefs>
</ds:datastoreItem>
</file>

<file path=customXml/itemProps3.xml><?xml version="1.0" encoding="utf-8"?>
<ds:datastoreItem xmlns:ds="http://schemas.openxmlformats.org/officeDocument/2006/customXml" ds:itemID="{257006B7-98B3-40D9-A62A-8D5C0549E3DD}">
  <ds:schemaRefs>
    <ds:schemaRef ds:uri="http://purl.org/dc/terms/"/>
    <ds:schemaRef ds:uri="http://schemas.microsoft.com/office/2006/documentManagement/types"/>
    <ds:schemaRef ds:uri="http://www.w3.org/XML/1998/namespace"/>
    <ds:schemaRef ds:uri="http://purl.org/dc/elements/1.1/"/>
    <ds:schemaRef ds:uri="http://schemas.microsoft.com/office/infopath/2007/PartnerControls"/>
    <ds:schemaRef ds:uri="0c4d11f4-4cd6-4250-bf77-f0f28d6643cf"/>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37</TotalTime>
  <Words>1224</Words>
  <Application>Microsoft Office PowerPoint</Application>
  <PresentationFormat>Widescreen</PresentationFormat>
  <Paragraphs>91</Paragraphs>
  <Slides>20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Aptos</vt:lpstr>
      <vt:lpstr>Aptos Display</vt:lpstr>
      <vt:lpstr>Arial</vt:lpstr>
      <vt:lpstr>Symbol</vt:lpstr>
      <vt:lpstr>Times New Roman</vt:lpstr>
      <vt:lpstr>Office Theme</vt:lpstr>
      <vt:lpstr>Custom Design</vt:lpstr>
      <vt:lpstr>     FOOD DELIVERY BOT USING  D*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Hariharan R</dc:creator>
  <cp:lastModifiedBy>Hariharan R</cp:lastModifiedBy>
  <cp:revision>2</cp:revision>
  <dcterms:created xsi:type="dcterms:W3CDTF">2026-05-03T09:58:33Z</dcterms:created>
  <dcterms:modified xsi:type="dcterms:W3CDTF">2026-05-03T17:58:36Z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0x010100D9FEDFEF19B6904B86E3B467703D51FC</vt:lpwstr>
  </property>
  <property fmtid="{D5CDD505-2E9C-101B-9397-08002B2CF9AE}" pid="3" name="MSIP_Label_defa4170-0d19-0005-0004-bc88714345d2_Enabled">
    <vt:lpwstr>true</vt:lpwstr>
  </property>
  <property fmtid="{D5CDD505-2E9C-101B-9397-08002B2CF9AE}" pid="4" name="MSIP_Label_defa4170-0d19-0005-0004-bc88714345d2_SetDate">
    <vt:lpwstr>2026-05-03T12:02:07Z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47c9fe89-cbe2-4e4a-a7a6-2c7b1f924568</vt:lpwstr>
  </property>
  <property fmtid="{D5CDD505-2E9C-101B-9397-08002B2CF9AE}" pid="8" name="MSIP_Label_defa4170-0d19-0005-0004-bc88714345d2_ActionId">
    <vt:lpwstr>57ed1de9-c384-447e-98e7-b3e5989465c8</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